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78" r:id="rId2"/>
    <p:sldId id="258" r:id="rId3"/>
    <p:sldId id="268" r:id="rId4"/>
    <p:sldId id="260" r:id="rId5"/>
    <p:sldId id="261" r:id="rId6"/>
    <p:sldId id="274" r:id="rId7"/>
    <p:sldId id="272" r:id="rId8"/>
    <p:sldId id="279" r:id="rId9"/>
    <p:sldId id="281" r:id="rId10"/>
    <p:sldId id="280" r:id="rId11"/>
    <p:sldId id="273" r:id="rId12"/>
    <p:sldId id="267" r:id="rId13"/>
    <p:sldId id="275" r:id="rId14"/>
    <p:sldId id="276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100" d="100"/>
          <a:sy n="100" d="100"/>
        </p:scale>
        <p:origin x="-294" y="-1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9E929-6A7A-40AB-B584-4866B90E155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AC2E8-E1BD-49B2-8D30-82FCB5E90F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47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AC2E8-E1BD-49B2-8D30-82FCB5E90F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39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AC2E8-E1BD-49B2-8D30-82FCB5E90F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15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C825D-3357-4486-BF1E-72D15D14601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E527-CD67-4E0D-AA2E-675F8EE19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90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C825D-3357-4486-BF1E-72D15D14601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E527-CD67-4E0D-AA2E-675F8EE19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95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C825D-3357-4486-BF1E-72D15D14601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E527-CD67-4E0D-AA2E-675F8EE19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55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C825D-3357-4486-BF1E-72D15D14601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E527-CD67-4E0D-AA2E-675F8EE19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11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C825D-3357-4486-BF1E-72D15D14601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E527-CD67-4E0D-AA2E-675F8EE19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38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C825D-3357-4486-BF1E-72D15D14601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E527-CD67-4E0D-AA2E-675F8EE19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983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C825D-3357-4486-BF1E-72D15D14601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E527-CD67-4E0D-AA2E-675F8EE19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826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C825D-3357-4486-BF1E-72D15D14601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E527-CD67-4E0D-AA2E-675F8EE19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188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C825D-3357-4486-BF1E-72D15D14601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E527-CD67-4E0D-AA2E-675F8EE19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82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C825D-3357-4486-BF1E-72D15D14601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E527-CD67-4E0D-AA2E-675F8EE19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02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C825D-3357-4486-BF1E-72D15D14601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2E527-CD67-4E0D-AA2E-675F8EE19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020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f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C825D-3357-4486-BF1E-72D15D14601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2E527-CD67-4E0D-AA2E-675F8EE19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26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219075" y="713422"/>
            <a:ext cx="8629650" cy="4132154"/>
            <a:chOff x="219075" y="713422"/>
            <a:chExt cx="8629650" cy="4132154"/>
          </a:xfrm>
        </p:grpSpPr>
        <p:sp>
          <p:nvSpPr>
            <p:cNvPr id="2" name="TextBox 1"/>
            <p:cNvSpPr txBox="1"/>
            <p:nvPr/>
          </p:nvSpPr>
          <p:spPr>
            <a:xfrm>
              <a:off x="533400" y="2952750"/>
              <a:ext cx="6886575" cy="1892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 smtClean="0"/>
            </a:p>
            <a:p>
              <a:endParaRPr lang="en-US" dirty="0" smtClean="0"/>
            </a:p>
            <a:p>
              <a:pPr>
                <a:lnSpc>
                  <a:spcPct val="150000"/>
                </a:lnSpc>
              </a:pPr>
              <a:r>
                <a:rPr lang="en-US" b="1" dirty="0" smtClean="0"/>
                <a:t>Submitted By:</a:t>
              </a:r>
            </a:p>
            <a:p>
              <a:pPr>
                <a:lnSpc>
                  <a:spcPct val="150000"/>
                </a:lnSpc>
              </a:pPr>
              <a:r>
                <a:rPr lang="en-US" b="1" dirty="0" smtClean="0"/>
                <a:t>Name:</a:t>
              </a:r>
              <a:r>
                <a:rPr lang="en-US" dirty="0" smtClean="0"/>
                <a:t> Anjali Gupta</a:t>
              </a:r>
            </a:p>
            <a:p>
              <a:pPr>
                <a:lnSpc>
                  <a:spcPct val="150000"/>
                </a:lnSpc>
              </a:pPr>
              <a:r>
                <a:rPr lang="en-US" b="1" dirty="0" smtClean="0"/>
                <a:t>Role:</a:t>
              </a:r>
              <a:r>
                <a:rPr lang="en-US" dirty="0" smtClean="0"/>
                <a:t> Software Engineering Intern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19075" y="713422"/>
              <a:ext cx="8629650" cy="1477328"/>
            </a:xfrm>
            <a:prstGeom prst="rect">
              <a:avLst/>
            </a:prstGeom>
            <a:ln>
              <a:noFill/>
            </a:ln>
            <a:effectLst>
              <a:glow rad="139700">
                <a:schemeClr val="accent3">
                  <a:satMod val="175000"/>
                  <a:alpha val="40000"/>
                </a:schemeClr>
              </a:glow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perspectiveBelow"/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b="1" dirty="0" smtClean="0"/>
                <a:t>             </a:t>
              </a:r>
              <a:r>
                <a:rPr lang="en-US" sz="3600" b="1" dirty="0" smtClean="0">
                  <a:solidFill>
                    <a:srgbClr val="002060"/>
                  </a:solidFill>
                </a:rPr>
                <a:t>WORKFLOW </a:t>
              </a:r>
              <a:r>
                <a:rPr lang="en-US" sz="3600" b="1" dirty="0" smtClean="0">
                  <a:solidFill>
                    <a:srgbClr val="002060"/>
                  </a:solidFill>
                </a:rPr>
                <a:t>AUTOMATION PLATFORM</a:t>
              </a:r>
              <a:endParaRPr lang="en-US" sz="3200" b="1" dirty="0" smtClean="0">
                <a:solidFill>
                  <a:srgbClr val="002060"/>
                </a:solidFill>
              </a:endParaRPr>
            </a:p>
            <a:p>
              <a:r>
                <a:rPr lang="en-US" dirty="0" smtClean="0"/>
                <a:t> </a:t>
              </a:r>
            </a:p>
            <a:p>
              <a:r>
                <a:rPr lang="en-US" b="1" dirty="0" smtClean="0"/>
                <a:t>            </a:t>
              </a:r>
              <a:endParaRPr lang="en-US" dirty="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295400" y="1421657"/>
              <a:ext cx="7086599" cy="464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b="1" dirty="0" smtClean="0">
                  <a:solidFill>
                    <a:srgbClr val="7030A0"/>
                  </a:solidFill>
                </a:rPr>
                <a:t>(A </a:t>
              </a:r>
              <a:r>
                <a:rPr lang="en-US" b="1" dirty="0">
                  <a:solidFill>
                    <a:srgbClr val="7030A0"/>
                  </a:solidFill>
                </a:rPr>
                <a:t>Python-Based Drag &amp; Drop Web System for Custom Task </a:t>
              </a:r>
              <a:r>
                <a:rPr lang="en-US" b="1" dirty="0" smtClean="0">
                  <a:solidFill>
                    <a:srgbClr val="7030A0"/>
                  </a:solidFill>
                </a:rPr>
                <a:t>Execution)</a:t>
              </a:r>
              <a:endParaRPr lang="en-US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760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905000" y="-273698"/>
            <a:ext cx="8010525" cy="5787185"/>
            <a:chOff x="1905000" y="-273698"/>
            <a:chExt cx="8010525" cy="5787185"/>
          </a:xfrm>
        </p:grpSpPr>
        <p:sp>
          <p:nvSpPr>
            <p:cNvPr id="8" name="TextBox 7"/>
            <p:cNvSpPr txBox="1"/>
            <p:nvPr/>
          </p:nvSpPr>
          <p:spPr>
            <a:xfrm flipH="1">
              <a:off x="3048000" y="-273698"/>
              <a:ext cx="6867525" cy="833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2800" b="1" dirty="0" smtClean="0">
                  <a:solidFill>
                    <a:srgbClr val="002060"/>
                  </a:solidFill>
                </a:rPr>
                <a:t>TABLE OF CONTENTS</a:t>
              </a:r>
              <a:endParaRPr lang="en-US" sz="2800" b="1" dirty="0">
                <a:solidFill>
                  <a:srgbClr val="002060"/>
                </a:solidFill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905000" y="742950"/>
              <a:ext cx="5791200" cy="4770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600" b="1" dirty="0" smtClean="0"/>
                <a:t>INTRODUCTION 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600" b="1" dirty="0" smtClean="0"/>
                <a:t>PROBLEM STATEMENT 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600" b="1" dirty="0" smtClean="0"/>
                <a:t>OBJECTIVES &amp; PROJECT GOALS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600" b="1" dirty="0" smtClean="0"/>
                <a:t>TECH STACK OVERVIEW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600" b="1" dirty="0" smtClean="0"/>
                <a:t>SYSTEM MODULES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600" b="1" dirty="0" smtClean="0"/>
                <a:t>UNIFIED SYSTEM ARCHITECTURE  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600" b="1" dirty="0" smtClean="0"/>
                <a:t>DATA FLOW DIAGRAM (DFD)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600" b="1" dirty="0" smtClean="0"/>
                <a:t>DATABASE SCHEMA DIAGRAM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600" b="1" dirty="0" smtClean="0"/>
                <a:t>KEY FEATURES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600" b="1" dirty="0" smtClean="0"/>
                <a:t>FUTURE SCOPE 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600" b="1" dirty="0" smtClean="0"/>
                <a:t>CONCLUSION</a:t>
              </a:r>
            </a:p>
            <a:p>
              <a:pPr>
                <a:lnSpc>
                  <a:spcPct val="150000"/>
                </a:lnSpc>
              </a:pPr>
              <a:endParaRPr lang="en-US" sz="1600" b="1" dirty="0" smtClean="0"/>
            </a:p>
            <a:p>
              <a:endParaRPr lang="en-US" sz="1600" b="1" dirty="0"/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2743200" y="514350"/>
              <a:ext cx="3949119" cy="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0479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95600" y="94565"/>
            <a:ext cx="7467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</a:rPr>
              <a:t>INTRODUCTION</a:t>
            </a:r>
            <a:endParaRPr lang="en-US" sz="3600" dirty="0">
              <a:solidFill>
                <a:srgbClr val="00206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6800" y="1000125"/>
            <a:ext cx="67817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</a:t>
            </a:r>
            <a:r>
              <a:rPr lang="en-US" b="1" dirty="0"/>
              <a:t>Workflow Automation Platform</a:t>
            </a:r>
            <a:r>
              <a:rPr lang="en-US" dirty="0"/>
              <a:t> is a full-stack web application designed to automate, execute, and monitor daily business tasks. It replaces manual, time-consuming work with an easy drag-and-drop visual workflow canvas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Frontend</a:t>
            </a:r>
            <a:r>
              <a:rPr lang="en-US" b="1" dirty="0"/>
              <a:t>:</a:t>
            </a:r>
            <a:r>
              <a:rPr lang="en-US" dirty="0"/>
              <a:t> Built with React (Vite) and Tailwind CSS for a fast visual canvas, login views, and live execution dashboards</a:t>
            </a:r>
            <a:r>
              <a:rPr lang="en-US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Backend:</a:t>
            </a:r>
            <a:r>
              <a:rPr lang="en-US" dirty="0"/>
              <a:t> Powered by Python to manage core logic, secure JWT authentication, and execute automated tasks reliably</a:t>
            </a:r>
            <a:r>
              <a:rPr lang="en-US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Purpose:</a:t>
            </a:r>
            <a:r>
              <a:rPr lang="en-US" dirty="0"/>
              <a:t> To save time, eliminate manual errors, and give clear real-time tracking for all automated workflows.</a:t>
            </a:r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2590800" y="740899"/>
            <a:ext cx="3752850" cy="2051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050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3950" y="1323975"/>
            <a:ext cx="6705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Challenges </a:t>
            </a:r>
            <a:r>
              <a:rPr lang="en-US" b="1" dirty="0"/>
              <a:t>in Manual Process Management</a:t>
            </a:r>
            <a:r>
              <a:rPr lang="en-US" b="1" dirty="0" smtClean="0"/>
              <a:t>: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Manual Overhead:</a:t>
            </a:r>
            <a:r>
              <a:rPr lang="en-US" dirty="0"/>
              <a:t> Repeating daily operational tasks manually leads to significant time loss and human errors</a:t>
            </a:r>
            <a:r>
              <a:rPr lang="en-US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Fragmented </a:t>
            </a:r>
            <a:r>
              <a:rPr lang="en-US" b="1" dirty="0"/>
              <a:t>Systems:</a:t>
            </a:r>
            <a:r>
              <a:rPr lang="en-US" dirty="0"/>
              <a:t> Absence of a centralized platform to manage user authentication, execution logs, and database tracking together</a:t>
            </a:r>
            <a:r>
              <a:rPr lang="en-US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Scalability Issues:</a:t>
            </a:r>
            <a:r>
              <a:rPr lang="en-US" dirty="0"/>
              <a:t> Unstructured workflow setups fail to scale efficiently when operational demands increase.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419350" y="295633"/>
            <a:ext cx="48006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</a:rPr>
              <a:t>PROBLEM STATEMENT</a:t>
            </a:r>
            <a:endParaRPr lang="en-US" sz="3600" dirty="0" smtClean="0">
              <a:solidFill>
                <a:srgbClr val="002060"/>
              </a:solidFill>
            </a:endParaRPr>
          </a:p>
          <a:p>
            <a:endParaRPr lang="en-US" sz="3600" dirty="0">
              <a:solidFill>
                <a:srgbClr val="00206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133601" y="924823"/>
            <a:ext cx="508635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6683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2900" y="895350"/>
            <a:ext cx="800100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System Objectives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Visual Drag-and-Drop Canvas:</a:t>
            </a:r>
            <a:r>
              <a:rPr lang="en-US" dirty="0"/>
              <a:t> Build an intuitive UI with React and Vite for easy workflow design</a:t>
            </a:r>
            <a:r>
              <a:rPr lang="en-US" dirty="0" smtClean="0"/>
              <a:t>.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Secure </a:t>
            </a:r>
            <a:r>
              <a:rPr lang="en-US" b="1" dirty="0"/>
              <a:t>Access &amp; Persistence:</a:t>
            </a:r>
            <a:r>
              <a:rPr lang="en-US" dirty="0"/>
              <a:t> Implement JWT authentication and </a:t>
            </a:r>
            <a:r>
              <a:rPr lang="en-US" dirty="0" err="1"/>
              <a:t>SQLAlchemy</a:t>
            </a:r>
            <a:r>
              <a:rPr lang="en-US" dirty="0"/>
              <a:t> ORM for reliable data tracking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Project </a:t>
            </a:r>
            <a:r>
              <a:rPr lang="en-US" b="1" dirty="0" smtClean="0"/>
              <a:t>Goals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Time Efficiency:</a:t>
            </a:r>
            <a:r>
              <a:rPr lang="en-US" dirty="0"/>
              <a:t> Eliminate repetitive manual work to speed up operational execution.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Real-time Visibility:</a:t>
            </a:r>
            <a:r>
              <a:rPr lang="en-US" dirty="0"/>
              <a:t> Track live execution statuses and activity logs directly from the dashboard.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System Scalability:</a:t>
            </a:r>
            <a:r>
              <a:rPr lang="en-US" dirty="0"/>
              <a:t> Ensure containerized setup with Docker for easy future expansions.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828800" y="133350"/>
            <a:ext cx="566737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002060"/>
                </a:solidFill>
              </a:rPr>
              <a:t>OBJECTIVES &amp; PROJECT GOALS</a:t>
            </a:r>
          </a:p>
          <a:p>
            <a:endParaRPr lang="en-US" sz="3600" dirty="0">
              <a:solidFill>
                <a:srgbClr val="002060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691097"/>
            <a:ext cx="56388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61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133600" y="120254"/>
            <a:ext cx="66675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Google Sans Text"/>
                <a:cs typeface="Arial" pitchFamily="34" charset="0"/>
              </a:rPr>
              <a:t>TECH STACK OVERVIEW</a:t>
            </a:r>
            <a:endParaRPr kumimoji="0" lang="en-US" sz="3200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Google San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02579"/>
              </p:ext>
            </p:extLst>
          </p:nvPr>
        </p:nvGraphicFramePr>
        <p:xfrm>
          <a:off x="990600" y="971550"/>
          <a:ext cx="7086600" cy="389844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087369"/>
                <a:gridCol w="3999231"/>
              </a:tblGrid>
              <a:tr h="173732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Category</a:t>
                      </a:r>
                      <a:endParaRPr lang="en-US" sz="1800" b="1" dirty="0">
                        <a:effectLst/>
                        <a:latin typeface="Google Sans Text"/>
                      </a:endParaRPr>
                    </a:p>
                  </a:txBody>
                  <a:tcPr marL="105188" marR="105188" marT="70126" marB="70126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Technology Used</a:t>
                      </a:r>
                      <a:endParaRPr lang="en-US" sz="1800" b="1" dirty="0">
                        <a:effectLst/>
                        <a:latin typeface="Google Sans Text"/>
                      </a:endParaRPr>
                    </a:p>
                  </a:txBody>
                  <a:tcPr marL="105188" marR="105188" marT="70126" marB="70126" anchor="ctr"/>
                </a:tc>
              </a:tr>
              <a:tr h="746016"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</a:rPr>
                        <a:t>Frontend</a:t>
                      </a:r>
                      <a:endParaRPr lang="en-US" sz="1700" dirty="0">
                        <a:effectLst/>
                        <a:latin typeface="Google Sans Text"/>
                      </a:endParaRPr>
                    </a:p>
                  </a:txBody>
                  <a:tcPr marL="105188" marR="105188" marT="70126" marB="70126"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</a:rPr>
                        <a:t>React (Vite), Tailwind CSS, HTML5, JavaScript (ES6+)</a:t>
                      </a:r>
                      <a:endParaRPr lang="en-US" sz="1700" dirty="0">
                        <a:effectLst/>
                        <a:latin typeface="Google Sans Text"/>
                      </a:endParaRPr>
                    </a:p>
                  </a:txBody>
                  <a:tcPr marL="105188" marR="105188" marT="70126" marB="70126" anchor="ctr"/>
                </a:tc>
              </a:tr>
              <a:tr h="452464"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Backend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105188" marR="105188" marT="70126" marB="70126"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</a:rPr>
                        <a:t>Python (FastAPI / Flask)</a:t>
                      </a:r>
                      <a:endParaRPr lang="en-US" sz="1700" dirty="0">
                        <a:effectLst/>
                        <a:latin typeface="Google Sans Text"/>
                      </a:endParaRPr>
                    </a:p>
                  </a:txBody>
                  <a:tcPr marL="105188" marR="105188" marT="70126" marB="70126" anchor="ctr"/>
                </a:tc>
              </a:tr>
              <a:tr h="452464"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</a:rPr>
                        <a:t>Database</a:t>
                      </a:r>
                      <a:endParaRPr lang="en-US" sz="1700" dirty="0">
                        <a:effectLst/>
                        <a:latin typeface="Google Sans Text"/>
                      </a:endParaRPr>
                    </a:p>
                  </a:txBody>
                  <a:tcPr marL="105188" marR="105188" marT="70126" marB="70126" anchor="ctr"/>
                </a:tc>
                <a:tc>
                  <a:txBody>
                    <a:bodyPr/>
                    <a:lstStyle/>
                    <a:p>
                      <a:r>
                        <a:rPr lang="en-US" sz="1700" dirty="0" err="1" smtClean="0">
                          <a:effectLst/>
                          <a:latin typeface="+mn-lt"/>
                        </a:rPr>
                        <a:t>PostgreSQL</a:t>
                      </a:r>
                      <a:endParaRPr lang="en-US" sz="1700" dirty="0">
                        <a:effectLst/>
                        <a:latin typeface="Google Sans Text"/>
                      </a:endParaRPr>
                    </a:p>
                  </a:txBody>
                  <a:tcPr marL="105188" marR="105188" marT="70126" marB="70126" anchor="ctr"/>
                </a:tc>
              </a:tr>
              <a:tr h="452464"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</a:rPr>
                        <a:t>ORM / Data Access</a:t>
                      </a:r>
                      <a:endParaRPr lang="en-US" sz="1700" dirty="0">
                        <a:effectLst/>
                        <a:latin typeface="Google Sans Text"/>
                      </a:endParaRPr>
                    </a:p>
                  </a:txBody>
                  <a:tcPr marL="105188" marR="105188" marT="70126" marB="70126" anchor="ctr"/>
                </a:tc>
                <a:tc>
                  <a:txBody>
                    <a:bodyPr/>
                    <a:lstStyle/>
                    <a:p>
                      <a:r>
                        <a:rPr lang="en-US" sz="1700" dirty="0" err="1">
                          <a:effectLst/>
                        </a:rPr>
                        <a:t>SQLAlchemy</a:t>
                      </a:r>
                      <a:r>
                        <a:rPr lang="en-US" sz="1700" dirty="0">
                          <a:effectLst/>
                        </a:rPr>
                        <a:t> </a:t>
                      </a:r>
                      <a:r>
                        <a:rPr lang="en-US" sz="1700" dirty="0" smtClean="0">
                          <a:effectLst/>
                        </a:rPr>
                        <a:t>ORM, psycopg2</a:t>
                      </a:r>
                      <a:endParaRPr lang="en-US" sz="1700" dirty="0">
                        <a:effectLst/>
                        <a:latin typeface="Google Sans Text"/>
                      </a:endParaRPr>
                    </a:p>
                  </a:txBody>
                  <a:tcPr marL="105188" marR="105188" marT="70126" marB="70126" anchor="ctr"/>
                </a:tc>
              </a:tr>
              <a:tr h="452464"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Authentication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105188" marR="105188" marT="70126" marB="70126"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</a:rPr>
                        <a:t>JSON Web Tokens (JWT), Bcrypt</a:t>
                      </a:r>
                      <a:endParaRPr lang="en-US" sz="1700" dirty="0">
                        <a:effectLst/>
                        <a:latin typeface="Google Sans Text"/>
                      </a:endParaRPr>
                    </a:p>
                  </a:txBody>
                  <a:tcPr marL="105188" marR="105188" marT="70126" marB="70126" anchor="ctr"/>
                </a:tc>
              </a:tr>
              <a:tr h="452464"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Containerization</a:t>
                      </a:r>
                      <a:endParaRPr lang="en-US" sz="1700">
                        <a:effectLst/>
                        <a:latin typeface="Google Sans Text"/>
                      </a:endParaRPr>
                    </a:p>
                  </a:txBody>
                  <a:tcPr marL="105188" marR="105188" marT="70126" marB="70126"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</a:rPr>
                        <a:t>Docker</a:t>
                      </a:r>
                      <a:endParaRPr lang="en-US" sz="1700" dirty="0">
                        <a:effectLst/>
                        <a:latin typeface="Google Sans Text"/>
                      </a:endParaRPr>
                    </a:p>
                  </a:txBody>
                  <a:tcPr marL="105188" marR="105188" marT="70126" marB="70126" anchor="ctr"/>
                </a:tc>
              </a:tr>
              <a:tr h="475532"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</a:rPr>
                        <a:t>Version Control</a:t>
                      </a:r>
                      <a:endParaRPr lang="en-US" sz="1700" dirty="0">
                        <a:effectLst/>
                        <a:latin typeface="Google Sans Text"/>
                      </a:endParaRPr>
                    </a:p>
                  </a:txBody>
                  <a:tcPr marL="105188" marR="105188" marT="70126" marB="70126" anchor="ctr"/>
                </a:tc>
                <a:tc>
                  <a:txBody>
                    <a:bodyPr/>
                    <a:lstStyle/>
                    <a:p>
                      <a:r>
                        <a:rPr lang="en-US" sz="1700" dirty="0" err="1">
                          <a:effectLst/>
                        </a:rPr>
                        <a:t>Git</a:t>
                      </a:r>
                      <a:r>
                        <a:rPr lang="en-US" sz="1700" dirty="0">
                          <a:effectLst/>
                        </a:rPr>
                        <a:t> &amp; </a:t>
                      </a:r>
                      <a:r>
                        <a:rPr lang="en-US" sz="1700" dirty="0" err="1">
                          <a:effectLst/>
                        </a:rPr>
                        <a:t>GitHub</a:t>
                      </a:r>
                      <a:endParaRPr lang="en-US" sz="1700" dirty="0">
                        <a:effectLst/>
                        <a:latin typeface="Google Sans Text"/>
                      </a:endParaRPr>
                    </a:p>
                  </a:txBody>
                  <a:tcPr marL="105188" marR="105188" marT="70126" marB="70126" anchor="ctr"/>
                </a:tc>
              </a:tr>
            </a:tbl>
          </a:graphicData>
        </a:graphic>
      </p:graphicFrame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785813" y="11699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981200" y="657225"/>
            <a:ext cx="5314950" cy="9525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911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5400" y="876300"/>
            <a:ext cx="6248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Authentication &amp; Authorization Module:</a:t>
            </a:r>
            <a:r>
              <a:rPr lang="en-US" dirty="0"/>
              <a:t> Secure login, registration, and role-based permissions (Admin vs. Standard User</a:t>
            </a:r>
            <a:r>
              <a:rPr lang="en-US" dirty="0" smtClean="0"/>
              <a:t>).</a:t>
            </a:r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Workflow Engine Module:</a:t>
            </a:r>
            <a:r>
              <a:rPr lang="en-US" dirty="0"/>
              <a:t> Create, edit, activate, pause, and delete workflows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Task Execution &amp; Trigger Module:</a:t>
            </a:r>
            <a:r>
              <a:rPr lang="en-US" dirty="0"/>
              <a:t> Execute workflow steps automatically based on predefined rules or manual actions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Monitoring &amp; Logs Module:</a:t>
            </a:r>
            <a:r>
              <a:rPr lang="en-US" dirty="0"/>
              <a:t> Track execution status, inspect errors, and maintain system activity logs.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457325" y="266105"/>
            <a:ext cx="37460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</a:rPr>
              <a:t>SYSTEM MODULES</a:t>
            </a:r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457325" y="876300"/>
            <a:ext cx="3857625" cy="1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9034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352557" y="-228600"/>
            <a:ext cx="8498675" cy="5265868"/>
            <a:chOff x="1352557" y="-228600"/>
            <a:chExt cx="8498675" cy="5265868"/>
          </a:xfrm>
        </p:grpSpPr>
        <p:grpSp>
          <p:nvGrpSpPr>
            <p:cNvPr id="84" name="Group 83"/>
            <p:cNvGrpSpPr/>
            <p:nvPr/>
          </p:nvGrpSpPr>
          <p:grpSpPr>
            <a:xfrm>
              <a:off x="1352557" y="-228600"/>
              <a:ext cx="8498675" cy="5219701"/>
              <a:chOff x="1200152" y="-209550"/>
              <a:chExt cx="8498675" cy="5219701"/>
            </a:xfrm>
          </p:grpSpPr>
          <p:sp>
            <p:nvSpPr>
              <p:cNvPr id="2" name="TextBox 1"/>
              <p:cNvSpPr txBox="1"/>
              <p:nvPr/>
            </p:nvSpPr>
            <p:spPr>
              <a:xfrm>
                <a:off x="2562224" y="-49948"/>
                <a:ext cx="713660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UNIFIED SYSTEM ARCHITECTURE</a:t>
                </a:r>
              </a:p>
              <a:p>
                <a:endParaRPr lang="en-US" sz="2400" dirty="0"/>
              </a:p>
            </p:txBody>
          </p:sp>
          <p:sp>
            <p:nvSpPr>
              <p:cNvPr id="3" name="Rectangle 2"/>
              <p:cNvSpPr/>
              <p:nvPr/>
            </p:nvSpPr>
            <p:spPr>
              <a:xfrm flipH="1">
                <a:off x="2562224" y="-209550"/>
                <a:ext cx="3648075" cy="9524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Rectangle 3"/>
              <p:cNvSpPr/>
              <p:nvPr/>
            </p:nvSpPr>
            <p:spPr>
              <a:xfrm flipH="1">
                <a:off x="3352800" y="438150"/>
                <a:ext cx="1543050" cy="9906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1295395" y="533397"/>
                <a:ext cx="6477001" cy="219077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n-US" dirty="0" smtClean="0">
                    <a:solidFill>
                      <a:schemeClr val="tx1"/>
                    </a:solidFill>
                  </a:rPr>
                  <a:t>WORKFLOW AUTOMATION SYSTEM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1295396" y="933450"/>
                <a:ext cx="6477001" cy="876299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400" b="1" dirty="0">
                    <a:solidFill>
                      <a:schemeClr val="tx1"/>
                    </a:solidFill>
                  </a:rPr>
                  <a:t>[ FRONTEND LAYER ] 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- </a:t>
                </a:r>
                <a:r>
                  <a:rPr lang="en-US" sz="1200" dirty="0">
                    <a:solidFill>
                      <a:schemeClr val="tx1"/>
                    </a:solidFill>
                  </a:rPr>
                  <a:t>React.js + Vite + Tailwind 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CSS</a:t>
                </a:r>
              </a:p>
              <a:p>
                <a:pPr marL="171450" indent="-171450">
                  <a:buFont typeface="Arial" pitchFamily="34" charset="0"/>
                  <a:buChar char="•"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Authentication </a:t>
                </a:r>
                <a:r>
                  <a:rPr lang="en-US" sz="1200" dirty="0">
                    <a:solidFill>
                      <a:schemeClr val="tx1"/>
                    </a:solidFill>
                  </a:rPr>
                  <a:t>Views (Login / Register / JWT Local Storage) </a:t>
                </a:r>
                <a:endParaRPr lang="en-US" sz="1200" dirty="0" smtClean="0">
                  <a:solidFill>
                    <a:schemeClr val="tx1"/>
                  </a:solidFill>
                </a:endParaRPr>
              </a:p>
              <a:p>
                <a:pPr marL="171450" indent="-171450">
                  <a:buFont typeface="Arial" pitchFamily="34" charset="0"/>
                  <a:buChar char="•"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Visual </a:t>
                </a:r>
                <a:r>
                  <a:rPr lang="en-US" sz="1200" dirty="0">
                    <a:solidFill>
                      <a:schemeClr val="tx1"/>
                    </a:solidFill>
                  </a:rPr>
                  <a:t>Workflow Canvas Builder (`src/components`, `App.jsx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`,</a:t>
                </a:r>
                <a:r>
                  <a:rPr lang="en-US" sz="1200" dirty="0"/>
                  <a:t> </a:t>
                </a:r>
                <a:r>
                  <a:rPr lang="en-US" sz="1200" dirty="0">
                    <a:solidFill>
                      <a:schemeClr val="tx1"/>
                    </a:solidFill>
                  </a:rPr>
                  <a:t>`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main.jsx`) </a:t>
                </a:r>
              </a:p>
              <a:p>
                <a:pPr marL="171450" indent="-171450">
                  <a:buFont typeface="Arial" pitchFamily="34" charset="0"/>
                  <a:buChar char="•"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Dashboard &amp; Execution Tracking UI 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1295397" y="2057400"/>
                <a:ext cx="6477003" cy="1238250"/>
              </a:xfrm>
              <a:prstGeom prst="rect">
                <a:avLst/>
              </a:prstGeom>
              <a:ln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400" b="1" dirty="0">
                    <a:solidFill>
                      <a:schemeClr val="tx1"/>
                    </a:solidFill>
                  </a:rPr>
                  <a:t>[ BACKEND LAYER ] </a:t>
                </a:r>
                <a:r>
                  <a:rPr lang="en-US" sz="1400" dirty="0">
                    <a:solidFill>
                      <a:schemeClr val="tx1"/>
                    </a:solidFill>
                  </a:rPr>
                  <a:t>- </a:t>
                </a:r>
                <a:r>
                  <a:rPr lang="en-US" sz="1200" dirty="0">
                    <a:solidFill>
                      <a:schemeClr val="tx1"/>
                    </a:solidFill>
                  </a:rPr>
                  <a:t>Python Service Engine (FastAPI / Flask) </a:t>
                </a:r>
              </a:p>
              <a:p>
                <a:pPr marL="171450" indent="-171450">
                  <a:buFont typeface="Arial" pitchFamily="34" charset="0"/>
                  <a:buChar char="•"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Main </a:t>
                </a:r>
                <a:r>
                  <a:rPr lang="en-US" sz="1200" dirty="0">
                    <a:solidFill>
                      <a:schemeClr val="tx1"/>
                    </a:solidFill>
                  </a:rPr>
                  <a:t>Application Entrypoint &amp; API Controller (`main.py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`)</a:t>
                </a:r>
              </a:p>
              <a:p>
                <a:pPr marL="171450" indent="-171450">
                  <a:buFont typeface="Arial" pitchFamily="34" charset="0"/>
                  <a:buChar char="•"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Security </a:t>
                </a:r>
                <a:r>
                  <a:rPr lang="en-US" sz="1200" dirty="0">
                    <a:solidFill>
                      <a:schemeClr val="tx1"/>
                    </a:solidFill>
                  </a:rPr>
                  <a:t>&amp; Auth Module (`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auth.py`- </a:t>
                </a:r>
                <a:r>
                  <a:rPr lang="en-US" sz="1200" dirty="0">
                    <a:solidFill>
                      <a:schemeClr val="tx1"/>
                    </a:solidFill>
                  </a:rPr>
                  <a:t>Password Hashing via 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bcrypt, </a:t>
                </a:r>
                <a:r>
                  <a:rPr lang="en-US" sz="1200" dirty="0">
                    <a:solidFill>
                      <a:schemeClr val="tx1"/>
                    </a:solidFill>
                  </a:rPr>
                  <a:t>JWT Tokens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marL="171450" indent="-171450">
                  <a:buFont typeface="Arial" pitchFamily="34" charset="0"/>
                  <a:buChar char="•"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Request </a:t>
                </a:r>
                <a:r>
                  <a:rPr lang="en-US" sz="1200" dirty="0">
                    <a:solidFill>
                      <a:schemeClr val="tx1"/>
                    </a:solidFill>
                  </a:rPr>
                  <a:t>Data Validation Schemas (`schemas.py` - Pydantic Models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marL="171450" indent="-171450">
                  <a:buFont typeface="Arial" pitchFamily="34" charset="0"/>
                  <a:buChar char="•"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Core </a:t>
                </a:r>
                <a:r>
                  <a:rPr lang="en-US" sz="1200" dirty="0">
                    <a:solidFill>
                      <a:schemeClr val="tx1"/>
                    </a:solidFill>
                  </a:rPr>
                  <a:t>Workflow Execution Engine (`execution_engine.py`) </a:t>
                </a:r>
              </a:p>
              <a:p>
                <a:pPr marL="171450" indent="-171450">
                  <a:buFont typeface="Arial" pitchFamily="34" charset="0"/>
                  <a:buChar char="•"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Database </a:t>
                </a:r>
                <a:r>
                  <a:rPr lang="en-US" sz="1200" dirty="0">
                    <a:solidFill>
                      <a:schemeClr val="tx1"/>
                    </a:solidFill>
                  </a:rPr>
                  <a:t>Connection &amp; ORM Management (`database.py`, `models.py`) 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1200152" y="3562350"/>
                <a:ext cx="3128964" cy="1447801"/>
              </a:xfrm>
              <a:prstGeom prst="rect">
                <a:avLst/>
              </a:prstGeom>
              <a:ln>
                <a:solidFill>
                  <a:srgbClr val="92D050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4648199" y="3552825"/>
                <a:ext cx="3124200" cy="1457326"/>
              </a:xfrm>
              <a:prstGeom prst="rect">
                <a:avLst/>
              </a:prstGeom>
              <a:ln>
                <a:solidFill>
                  <a:srgbClr val="92D050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b="1" dirty="0">
                    <a:solidFill>
                      <a:schemeClr val="tx1"/>
                    </a:solidFill>
                  </a:rPr>
                  <a:t>[ CONFIG &amp; CONTAINERIZATION </a:t>
                </a:r>
                <a:r>
                  <a:rPr lang="en-US" sz="1200" b="1" dirty="0" smtClean="0">
                    <a:solidFill>
                      <a:schemeClr val="tx1"/>
                    </a:solidFill>
                  </a:rPr>
                  <a:t>]</a:t>
                </a:r>
              </a:p>
              <a:p>
                <a:pPr marL="171450" indent="-171450">
                  <a:buFont typeface="Arial" pitchFamily="34" charset="0"/>
                  <a:buChar char="•"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Docker </a:t>
                </a:r>
                <a:r>
                  <a:rPr lang="en-US" sz="1200" dirty="0">
                    <a:solidFill>
                      <a:schemeClr val="tx1"/>
                    </a:solidFill>
                  </a:rPr>
                  <a:t>(`Dockerfile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`, </a:t>
                </a:r>
                <a:r>
                  <a:rPr lang="en-US" sz="1200" dirty="0">
                    <a:solidFill>
                      <a:schemeClr val="tx1"/>
                    </a:solidFill>
                  </a:rPr>
                  <a:t>`docker-compose.yml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`, </a:t>
                </a:r>
                <a:r>
                  <a:rPr lang="en-US" sz="1200" dirty="0">
                    <a:solidFill>
                      <a:schemeClr val="tx1"/>
                    </a:solidFill>
                  </a:rPr>
                  <a:t>`.dockerignore`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)          </a:t>
                </a:r>
              </a:p>
              <a:p>
                <a:pPr marL="171450" indent="-171450">
                  <a:buFont typeface="Arial" pitchFamily="34" charset="0"/>
                  <a:buChar char="•"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Env </a:t>
                </a:r>
                <a:r>
                  <a:rPr lang="en-US" sz="1200" dirty="0">
                    <a:solidFill>
                      <a:schemeClr val="tx1"/>
                    </a:solidFill>
                  </a:rPr>
                  <a:t>Vars (`.env`) </a:t>
                </a:r>
              </a:p>
              <a:p>
                <a:pPr marL="171450" indent="-171450">
                  <a:buFont typeface="Arial" pitchFamily="34" charset="0"/>
                  <a:buChar char="•"/>
                </a:pPr>
                <a:r>
                  <a:rPr lang="en-US" sz="1200" dirty="0" smtClean="0">
                    <a:solidFill>
                      <a:schemeClr val="tx1"/>
                    </a:solidFill>
                  </a:rPr>
                  <a:t>Dependencies </a:t>
                </a:r>
                <a:endParaRPr lang="en-US" sz="1200" dirty="0">
                  <a:solidFill>
                    <a:schemeClr val="tx1"/>
                  </a:solidFill>
                </a:endParaRPr>
              </a:p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       (`</a:t>
                </a:r>
                <a:r>
                  <a:rPr lang="en-US" sz="1200" dirty="0">
                    <a:solidFill>
                      <a:schemeClr val="tx1"/>
                    </a:solidFill>
                  </a:rPr>
                  <a:t>requirements.txt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`)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" name="Straight Arrow Connector 13"/>
              <p:cNvCxnSpPr/>
              <p:nvPr/>
            </p:nvCxnSpPr>
            <p:spPr>
              <a:xfrm>
                <a:off x="4419596" y="781050"/>
                <a:ext cx="0" cy="152400"/>
              </a:xfrm>
              <a:prstGeom prst="straightConnector1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>
                <a:off x="4433887" y="1809749"/>
                <a:ext cx="0" cy="228300"/>
              </a:xfrm>
              <a:prstGeom prst="straightConnector1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/>
              <p:nvPr/>
            </p:nvCxnSpPr>
            <p:spPr>
              <a:xfrm>
                <a:off x="2209800" y="3302794"/>
                <a:ext cx="0" cy="266700"/>
              </a:xfrm>
              <a:prstGeom prst="straightConnector1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/>
              <p:nvPr/>
            </p:nvCxnSpPr>
            <p:spPr>
              <a:xfrm>
                <a:off x="5803104" y="3295650"/>
                <a:ext cx="0" cy="251222"/>
              </a:xfrm>
              <a:prstGeom prst="straightConnector1">
                <a:avLst/>
              </a:prstGeom>
              <a:ln w="28575">
                <a:solidFill>
                  <a:schemeClr val="tx1">
                    <a:lumMod val="95000"/>
                    <a:lumOff val="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Rectangle 56"/>
              <p:cNvSpPr/>
              <p:nvPr/>
            </p:nvSpPr>
            <p:spPr>
              <a:xfrm>
                <a:off x="4124325" y="1818678"/>
                <a:ext cx="3419475" cy="23931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HTTP / REST API Requests (JSON Payload)</a:t>
                </a:r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2859878" y="2952750"/>
                <a:ext cx="2035971" cy="139779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Rectangle 59"/>
              <p:cNvSpPr/>
              <p:nvPr/>
            </p:nvSpPr>
            <p:spPr>
              <a:xfrm>
                <a:off x="2038350" y="3305175"/>
                <a:ext cx="1924049" cy="2571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SQL Queries / ORM </a:t>
                </a:r>
              </a:p>
            </p:txBody>
          </p:sp>
          <p:sp>
            <p:nvSpPr>
              <p:cNvPr id="61" name="Rectangle 60"/>
              <p:cNvSpPr/>
              <p:nvPr/>
            </p:nvSpPr>
            <p:spPr>
              <a:xfrm>
                <a:off x="5534022" y="3318272"/>
                <a:ext cx="2247901" cy="2286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Config &amp; Environmen</a:t>
                </a:r>
              </a:p>
            </p:txBody>
          </p:sp>
          <p:cxnSp>
            <p:nvCxnSpPr>
              <p:cNvPr id="77" name="Straight Connector 76"/>
              <p:cNvCxnSpPr/>
              <p:nvPr/>
            </p:nvCxnSpPr>
            <p:spPr>
              <a:xfrm flipV="1">
                <a:off x="2505074" y="390525"/>
                <a:ext cx="4495796" cy="21283"/>
              </a:xfrm>
              <a:prstGeom prst="line">
                <a:avLst/>
              </a:prstGeom>
              <a:ln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/>
            <p:cNvSpPr txBox="1"/>
            <p:nvPr/>
          </p:nvSpPr>
          <p:spPr>
            <a:xfrm>
              <a:off x="1362082" y="3498385"/>
              <a:ext cx="3128964" cy="1538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/>
                <a:t>[ DATABASE LAYER ]</a:t>
              </a:r>
              <a:endParaRPr lang="en-US" sz="1400" b="1" dirty="0"/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000" dirty="0" smtClean="0"/>
                <a:t>Database </a:t>
              </a:r>
              <a:r>
                <a:rPr lang="en-US" sz="1000" dirty="0"/>
                <a:t>Engine: </a:t>
              </a:r>
              <a:r>
                <a:rPr lang="en-US" sz="1000" dirty="0" err="1"/>
                <a:t>PostgreSQL</a:t>
              </a:r>
              <a:r>
                <a:rPr lang="en-US" sz="1000" dirty="0"/>
                <a:t> </a:t>
              </a:r>
            </a:p>
            <a:p>
              <a:r>
                <a:rPr lang="en-US" sz="1000" dirty="0" smtClean="0"/>
                <a:t>         (</a:t>
              </a:r>
              <a:r>
                <a:rPr lang="en-US" sz="1000" dirty="0"/>
                <a:t>Relational DB Service) </a:t>
              </a: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000" dirty="0" smtClean="0"/>
                <a:t>ORM </a:t>
              </a:r>
              <a:r>
                <a:rPr lang="en-US" sz="1000" dirty="0"/>
                <a:t>&amp; Schema: </a:t>
              </a:r>
              <a:r>
                <a:rPr lang="en-US" sz="1000" dirty="0" err="1"/>
                <a:t>SQLAlchemy</a:t>
              </a:r>
              <a:r>
                <a:rPr lang="en-US" sz="1000" dirty="0"/>
                <a:t> </a:t>
              </a: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000" dirty="0" smtClean="0"/>
                <a:t>Database </a:t>
              </a:r>
              <a:r>
                <a:rPr lang="en-US" sz="1000" dirty="0"/>
                <a:t>Tables: </a:t>
              </a:r>
            </a:p>
            <a:p>
              <a:r>
                <a:rPr lang="en-US" sz="1000" dirty="0" smtClean="0"/>
                <a:t>           -- </a:t>
              </a:r>
              <a:r>
                <a:rPr lang="en-US" sz="1000" dirty="0"/>
                <a:t>Users </a:t>
              </a:r>
            </a:p>
            <a:p>
              <a:r>
                <a:rPr lang="en-US" sz="1000" dirty="0" smtClean="0"/>
                <a:t>           </a:t>
              </a:r>
              <a:r>
                <a:rPr lang="en-US" sz="1000" dirty="0"/>
                <a:t>-- Workflows </a:t>
              </a:r>
            </a:p>
            <a:p>
              <a:r>
                <a:rPr lang="en-US" sz="1000" dirty="0" smtClean="0"/>
                <a:t>           -- </a:t>
              </a:r>
              <a:r>
                <a:rPr lang="en-US" sz="1000" dirty="0"/>
                <a:t>Tasks </a:t>
              </a:r>
            </a:p>
            <a:p>
              <a:r>
                <a:rPr lang="en-US" sz="1000" dirty="0" smtClean="0"/>
                <a:t>          -- </a:t>
              </a:r>
              <a:r>
                <a:rPr lang="en-US" sz="1000" dirty="0"/>
                <a:t>Activity Logs 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7367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/>
          <p:cNvGrpSpPr/>
          <p:nvPr/>
        </p:nvGrpSpPr>
        <p:grpSpPr>
          <a:xfrm>
            <a:off x="1590675" y="135151"/>
            <a:ext cx="6878093" cy="4552950"/>
            <a:chOff x="1943099" y="0"/>
            <a:chExt cx="6878093" cy="4552950"/>
          </a:xfrm>
        </p:grpSpPr>
        <p:sp>
          <p:nvSpPr>
            <p:cNvPr id="2" name="TextBox 1"/>
            <p:cNvSpPr txBox="1"/>
            <p:nvPr/>
          </p:nvSpPr>
          <p:spPr>
            <a:xfrm>
              <a:off x="2733675" y="0"/>
              <a:ext cx="442024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>
                  <a:solidFill>
                    <a:srgbClr val="002060"/>
                  </a:solidFill>
                </a:rPr>
                <a:t>DATA FLOW DIAGRAM (DFD)</a:t>
              </a:r>
            </a:p>
            <a:p>
              <a:endParaRPr lang="en-US" sz="2800" dirty="0">
                <a:solidFill>
                  <a:srgbClr val="002060"/>
                </a:solidFill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1943099" y="713006"/>
              <a:ext cx="5353051" cy="325219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dirty="0" smtClean="0">
                  <a:solidFill>
                    <a:schemeClr val="tx1"/>
                  </a:solidFill>
                </a:rPr>
                <a:t>                                         </a:t>
              </a:r>
              <a:r>
                <a:rPr lang="en-US" sz="1600" b="1" dirty="0" smtClean="0">
                  <a:solidFill>
                    <a:schemeClr val="tx1"/>
                  </a:solidFill>
                </a:rPr>
                <a:t>User / Admin </a:t>
              </a:r>
              <a:endParaRPr 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1943099" y="1371602"/>
              <a:ext cx="5353050" cy="364448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React Frontend (Vite + Tailwind) 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952625" y="2071687"/>
              <a:ext cx="5343525" cy="33221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FastAPI/Flask Backend (main.py / auth.py) 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52626" y="2752725"/>
              <a:ext cx="5343523" cy="30479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Workflow Execution Engine (execution_engine.py) 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43102" y="4210050"/>
              <a:ext cx="5353048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Client UI Display (Dashboard &amp; Real-time Status Update) 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52626" y="3486150"/>
              <a:ext cx="5343524" cy="28575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Database Layer (</a:t>
              </a:r>
              <a:r>
                <a:rPr lang="en-US" sz="1600" b="1" dirty="0" err="1">
                  <a:solidFill>
                    <a:schemeClr val="tx1"/>
                  </a:solidFill>
                </a:rPr>
                <a:t>SQLAlchemy</a:t>
              </a:r>
              <a:r>
                <a:rPr lang="en-US" sz="1600" b="1" dirty="0">
                  <a:solidFill>
                    <a:schemeClr val="tx1"/>
                  </a:solidFill>
                </a:rPr>
                <a:t> ORM + </a:t>
              </a:r>
              <a:r>
                <a:rPr lang="en-US" sz="1600" b="1" dirty="0" err="1" smtClean="0">
                  <a:solidFill>
                    <a:schemeClr val="tx1"/>
                  </a:solidFill>
                </a:rPr>
                <a:t>PostgreSQL</a:t>
              </a:r>
              <a:r>
                <a:rPr lang="en-US" sz="1600" b="1" dirty="0" smtClean="0">
                  <a:solidFill>
                    <a:schemeClr val="tx1"/>
                  </a:solidFill>
                </a:rPr>
                <a:t>)</a:t>
              </a:r>
              <a:endParaRPr 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>
              <a:off x="4438650" y="1066800"/>
              <a:ext cx="0" cy="3048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4457700" y="1736050"/>
              <a:ext cx="1" cy="3356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4457700" y="3057524"/>
              <a:ext cx="9525" cy="4000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4467225" y="2403902"/>
              <a:ext cx="0" cy="30119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H="1">
              <a:off x="4495800" y="3800475"/>
              <a:ext cx="1" cy="4095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4524376" y="1066401"/>
              <a:ext cx="39338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1.</a:t>
              </a:r>
              <a:r>
                <a:rPr lang="en-US" sz="1400" dirty="0"/>
                <a:t> Interacts with UI (Workflow Canvas / Login Form)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529138" y="1736050"/>
              <a:ext cx="327748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2.</a:t>
              </a:r>
              <a:r>
                <a:rPr lang="en-US" sz="1400" dirty="0"/>
                <a:t> API Requests / JWT Bearer Tokens</a:t>
              </a:r>
            </a:p>
            <a:p>
              <a:endParaRPr lang="en-US" sz="1100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524375" y="2450098"/>
              <a:ext cx="423186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3.</a:t>
              </a:r>
              <a:r>
                <a:rPr lang="en-US" sz="1400" dirty="0"/>
                <a:t> Validates JWT Auth &amp; Request Schemas (schemas.py</a:t>
              </a:r>
              <a:r>
                <a:rPr lang="en-US" sz="1200" dirty="0"/>
                <a:t>)</a:t>
              </a:r>
            </a:p>
            <a:p>
              <a:endParaRPr lang="en-US" sz="1200" b="1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524375" y="3142475"/>
              <a:ext cx="42968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4.</a:t>
              </a:r>
              <a:r>
                <a:rPr lang="en-US" sz="1400" dirty="0"/>
                <a:t> </a:t>
              </a:r>
              <a:r>
                <a:rPr lang="en-US" sz="1400" dirty="0" smtClean="0"/>
                <a:t>Process Dynamic Nodes &amp; Step by step Task Execution</a:t>
              </a:r>
              <a:endParaRPr lang="en-US" sz="1400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543425" y="3867150"/>
              <a:ext cx="404418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5.</a:t>
              </a:r>
              <a:r>
                <a:rPr lang="en-US" sz="1400" dirty="0"/>
                <a:t> </a:t>
              </a:r>
              <a:r>
                <a:rPr lang="en-US" sz="1400" dirty="0" smtClean="0"/>
                <a:t>Persists Workflow Data, Task States &amp; Activity Logs</a:t>
              </a:r>
              <a:endParaRPr lang="en-US" sz="1400" dirty="0"/>
            </a:p>
            <a:p>
              <a:endParaRPr lang="en-US" dirty="0"/>
            </a:p>
          </p:txBody>
        </p:sp>
        <p:cxnSp>
          <p:nvCxnSpPr>
            <p:cNvPr id="43" name="Straight Connector 42"/>
            <p:cNvCxnSpPr/>
            <p:nvPr/>
          </p:nvCxnSpPr>
          <p:spPr>
            <a:xfrm flipV="1">
              <a:off x="2475220" y="488987"/>
              <a:ext cx="4820930" cy="1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35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/>
          <p:cNvGrpSpPr/>
          <p:nvPr/>
        </p:nvGrpSpPr>
        <p:grpSpPr>
          <a:xfrm>
            <a:off x="1885188" y="-32564"/>
            <a:ext cx="5172074" cy="5105400"/>
            <a:chOff x="1752601" y="0"/>
            <a:chExt cx="5172074" cy="5105400"/>
          </a:xfrm>
        </p:grpSpPr>
        <p:sp>
          <p:nvSpPr>
            <p:cNvPr id="2" name="TextBox 1"/>
            <p:cNvSpPr txBox="1"/>
            <p:nvPr/>
          </p:nvSpPr>
          <p:spPr>
            <a:xfrm>
              <a:off x="2590801" y="0"/>
              <a:ext cx="404523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/>
                <a:t>DATABASE SCHEMA DIAGRAM</a:t>
              </a:r>
            </a:p>
            <a:p>
              <a:endParaRPr lang="en-US" dirty="0"/>
            </a:p>
          </p:txBody>
        </p:sp>
        <p:sp>
          <p:nvSpPr>
            <p:cNvPr id="3" name="Rectangle 2"/>
            <p:cNvSpPr/>
            <p:nvPr/>
          </p:nvSpPr>
          <p:spPr>
            <a:xfrm>
              <a:off x="1752601" y="2133600"/>
              <a:ext cx="2283618" cy="1543050"/>
            </a:xfrm>
            <a:prstGeom prst="rect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 </a:t>
              </a:r>
              <a:r>
                <a:rPr lang="en-US" sz="1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WORKFLOWS </a:t>
              </a:r>
              <a:r>
                <a:rPr 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</a:t>
              </a:r>
              <a:r>
                <a:rPr lang="en-US" sz="28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</a:t>
              </a:r>
              <a:endParaRPr lang="en-US" sz="28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r>
                <a:rPr lang="en-US" sz="105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</a:t>
              </a: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05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US" sz="11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id (PK)                        </a:t>
              </a: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1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title             </a:t>
              </a:r>
              <a:endPara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1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description      </a:t>
              </a:r>
              <a:endPara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1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status          </a:t>
              </a:r>
              <a:endPara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1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user_id </a:t>
              </a:r>
              <a:r>
                <a:rPr 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(FK)      </a:t>
              </a: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1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created_at        </a:t>
              </a:r>
              <a:endPara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2590800" y="609599"/>
              <a:ext cx="2286000" cy="1285877"/>
            </a:xfrm>
            <a:prstGeom prst="rect">
              <a:avLst/>
            </a:prstGeom>
            <a:ln w="28575"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          </a:t>
              </a:r>
              <a:r>
                <a:rPr lang="en-US" sz="1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USERS </a:t>
              </a:r>
            </a:p>
            <a:p>
              <a:endParaRPr lang="en-US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5750" indent="-285750">
                <a:buFont typeface="Arial" pitchFamily="34" charset="0"/>
                <a:buChar char="•"/>
              </a:pPr>
              <a:r>
                <a:rPr lang="en-US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id </a:t>
              </a:r>
              <a:r>
                <a:rPr 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(PK)           </a:t>
              </a:r>
              <a:endParaRPr lang="en-US" sz="105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US" sz="11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email             </a:t>
              </a:r>
              <a:endPara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1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</a:t>
              </a:r>
              <a:r>
                <a:rPr 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password_hash    </a:t>
              </a:r>
              <a:r>
                <a:rPr lang="en-US" sz="11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</a:t>
              </a: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US" sz="11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role              </a:t>
              </a:r>
              <a:endPara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US" sz="11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created_at </a:t>
              </a:r>
              <a:endPara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2895600" y="3924300"/>
              <a:ext cx="2114550" cy="1181100"/>
            </a:xfrm>
            <a:prstGeom prst="rect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    </a:t>
              </a:r>
              <a:r>
                <a:rPr lang="en-US" sz="14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TASKS </a:t>
              </a:r>
              <a:endPara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endParaRPr lang="en-US" sz="105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05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</a:t>
              </a:r>
              <a:r>
                <a:rPr lang="en-US" sz="105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id (PK)           </a:t>
              </a: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05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</a:t>
              </a:r>
              <a:r>
                <a:rPr lang="en-US" sz="105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task_name         </a:t>
              </a: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05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status</a:t>
              </a:r>
              <a:endParaRPr lang="en-US" sz="105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05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US" sz="105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execution_time</a:t>
              </a:r>
              <a:endParaRPr lang="en-US" sz="105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05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en-US" sz="105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workflow_id </a:t>
              </a:r>
              <a:r>
                <a:rPr lang="en-US" sz="105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(FK)</a:t>
              </a:r>
              <a:r>
                <a:rPr lang="en-US" sz="1050" b="1" dirty="0"/>
                <a:t>  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780787" y="2233612"/>
              <a:ext cx="2133600" cy="1343026"/>
            </a:xfrm>
            <a:prstGeom prst="rect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             </a:t>
              </a:r>
              <a:r>
                <a:rPr lang="en-US" sz="1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ACTIVITY_LOGS </a:t>
              </a:r>
            </a:p>
            <a:p>
              <a:endParaRPr lang="en-US" sz="1000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id </a:t>
              </a:r>
              <a:r>
                <a:rPr 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(PK)           </a:t>
              </a:r>
              <a:endParaRPr lang="en-US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action            </a:t>
              </a:r>
              <a:endPara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user_id </a:t>
              </a:r>
              <a:r>
                <a:rPr 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(FK)      </a:t>
              </a:r>
            </a:p>
            <a:p>
              <a:pPr marL="171450" indent="-171450">
                <a:buFont typeface="Arial" pitchFamily="34" charset="0"/>
                <a:buChar char="•"/>
              </a:pPr>
              <a:r>
                <a:rPr lang="en-US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timestamp         </a:t>
              </a:r>
              <a:endPara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endPara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2578109" y="914400"/>
              <a:ext cx="2286000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2895600" y="4229874"/>
              <a:ext cx="2114932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780787" y="2600325"/>
              <a:ext cx="2143888" cy="9525"/>
            </a:xfrm>
            <a:prstGeom prst="line">
              <a:avLst/>
            </a:prstGeom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752601" y="2571750"/>
              <a:ext cx="228361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048000" y="1914525"/>
              <a:ext cx="0" cy="19526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00450" y="1895476"/>
              <a:ext cx="0" cy="1285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3600450" y="2024064"/>
              <a:ext cx="1895476" cy="87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>
              <a:off x="5506213" y="2023289"/>
              <a:ext cx="0" cy="23812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 flipH="1">
              <a:off x="3514723" y="3718739"/>
              <a:ext cx="3" cy="20633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4216409" y="2000250"/>
              <a:ext cx="6603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1:N</a:t>
              </a:r>
              <a:endParaRPr lang="en-US" b="1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3086100" y="1895476"/>
              <a:ext cx="89535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 smtClean="0"/>
                <a:t>1:N</a:t>
              </a:r>
              <a:endParaRPr lang="en-US" b="1" dirty="0"/>
            </a:p>
            <a:p>
              <a:endParaRPr lang="en-US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3587758" y="3681413"/>
              <a:ext cx="81280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1:N</a:t>
              </a:r>
            </a:p>
            <a:p>
              <a:endParaRPr lang="en-US" dirty="0"/>
            </a:p>
          </p:txBody>
        </p:sp>
        <p:cxnSp>
          <p:nvCxnSpPr>
            <p:cNvPr id="81" name="Straight Connector 80"/>
            <p:cNvCxnSpPr/>
            <p:nvPr/>
          </p:nvCxnSpPr>
          <p:spPr>
            <a:xfrm flipV="1">
              <a:off x="2508393" y="409575"/>
              <a:ext cx="4210050" cy="7383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6802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5400" y="287119"/>
            <a:ext cx="670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</a:rPr>
              <a:t>KEY FEATURES</a:t>
            </a:r>
          </a:p>
          <a:p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076325" y="1200150"/>
            <a:ext cx="7086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Visual Workflow Builder:</a:t>
            </a:r>
            <a:r>
              <a:rPr lang="en-US" dirty="0"/>
              <a:t> Interactive drag-and-drop interface for node-based visual workflow creation</a:t>
            </a:r>
            <a:r>
              <a:rPr lang="en-US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Interactive Dashboard:</a:t>
            </a:r>
            <a:r>
              <a:rPr lang="en-US" dirty="0"/>
              <a:t> Immediate visual feedback on active workflows and system metrics</a:t>
            </a:r>
            <a:r>
              <a:rPr lang="en-US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Real-time Status Tracking:</a:t>
            </a:r>
            <a:r>
              <a:rPr lang="en-US" dirty="0"/>
              <a:t> Monitor whether a task is Pending, In Progress, Completed, or Failed</a:t>
            </a:r>
            <a:r>
              <a:rPr lang="en-US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Secure API Endpoints:</a:t>
            </a:r>
            <a:r>
              <a:rPr lang="en-US" dirty="0"/>
              <a:t> Protected routes ensuring data safety across all requests.</a:t>
            </a:r>
          </a:p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295400" y="885825"/>
            <a:ext cx="3048000" cy="0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38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198" y="1200150"/>
            <a:ext cx="62769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                             </a:t>
            </a: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Third-Party Integrations:</a:t>
            </a:r>
            <a:r>
              <a:rPr lang="en-US" dirty="0"/>
              <a:t> Connect with </a:t>
            </a:r>
            <a:r>
              <a:rPr lang="en-US" dirty="0" err="1"/>
              <a:t>webhooks</a:t>
            </a:r>
            <a:r>
              <a:rPr lang="en-US" dirty="0"/>
              <a:t> and external APIs </a:t>
            </a:r>
            <a:r>
              <a:rPr lang="en-US" dirty="0" smtClean="0"/>
              <a:t>(Discord, Microsoft Teams, </a:t>
            </a:r>
            <a:r>
              <a:rPr lang="en-US" dirty="0"/>
              <a:t>Google Workspace</a:t>
            </a:r>
            <a:r>
              <a:rPr lang="en-US" dirty="0" smtClean="0"/>
              <a:t>).</a:t>
            </a:r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AI-Powered Workflow Suggestions:</a:t>
            </a:r>
            <a:r>
              <a:rPr lang="en-US" dirty="0"/>
              <a:t> Machine learning models to analyze user patterns and automatically suggest optimized workflow paths.</a:t>
            </a:r>
            <a:endParaRPr lang="en-US" b="1" dirty="0" smtClean="0"/>
          </a:p>
          <a:p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Scheduled </a:t>
            </a:r>
            <a:r>
              <a:rPr lang="en-US" b="1" dirty="0" err="1"/>
              <a:t>Cron</a:t>
            </a:r>
            <a:r>
              <a:rPr lang="en-US" b="1" dirty="0"/>
              <a:t> Jobs:</a:t>
            </a:r>
            <a:r>
              <a:rPr lang="en-US" dirty="0"/>
              <a:t> Native support for recurring time-based execution triggers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36116" y="438150"/>
            <a:ext cx="30570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</a:rPr>
              <a:t>FUTURE SCOPE</a:t>
            </a:r>
          </a:p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210983" y="1123950"/>
            <a:ext cx="3218142" cy="0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241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47775" y="438150"/>
            <a:ext cx="381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</a:rPr>
              <a:t>CONCLUSION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504950"/>
            <a:ext cx="7772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Workflow Automation Platform</a:t>
            </a:r>
            <a:r>
              <a:rPr lang="en-US" dirty="0"/>
              <a:t> effectively solves repetitive operational issues by consolidating tasks into a single management interface</a:t>
            </a:r>
            <a:r>
              <a:rPr lang="en-US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Its modular full-stack design ensures data security, backend scalability, and high response performance</a:t>
            </a:r>
            <a:r>
              <a:rPr lang="en-US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It is built with modern industry-standard web tools, providing a solid foundation for future operational expansion.</a:t>
            </a:r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143000" y="1076681"/>
            <a:ext cx="2943225" cy="0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8288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7400" y="819150"/>
            <a:ext cx="7715249" cy="199804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>
              <a:lnSpc>
                <a:spcPct val="200000"/>
              </a:lnSpc>
            </a:pPr>
            <a:r>
              <a:rPr lang="en-US" sz="7200" b="1" cap="all" dirty="0" smtClean="0">
                <a:ln w="0"/>
                <a:solidFill>
                  <a:srgbClr val="002060"/>
                </a:solidFill>
                <a:effectLst>
                  <a:reflection blurRad="12700" stA="50000" endPos="50000" dist="5000" dir="5400000" sy="-100000" rotWithShape="0"/>
                </a:effectLst>
              </a:rPr>
              <a:t>THANK YOU</a:t>
            </a:r>
            <a:endParaRPr lang="en-US" sz="7200" b="1" cap="all" dirty="0">
              <a:ln w="0"/>
              <a:solidFill>
                <a:srgbClr val="002060"/>
              </a:soli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2593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926</TotalTime>
  <Words>962</Words>
  <Application>Microsoft Office PowerPoint</Application>
  <PresentationFormat>On-screen Show (16:9)</PresentationFormat>
  <Paragraphs>170</Paragraphs>
  <Slides>14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Anjali Gupta</dc:creator>
  <cp:lastModifiedBy>Anjali Gupta</cp:lastModifiedBy>
  <cp:revision>73</cp:revision>
  <dcterms:created xsi:type="dcterms:W3CDTF">2026-09-17T08:37:59Z</dcterms:created>
  <dcterms:modified xsi:type="dcterms:W3CDTF">2026-09-19T19:10:06Z</dcterms:modified>
</cp:coreProperties>
</file>